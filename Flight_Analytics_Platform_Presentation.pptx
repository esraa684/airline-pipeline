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02C57"/>
                </a:solidFill>
                <a:latin typeface="Calibri"/>
              </a:defRPr>
            </a:pPr>
            <a:r>
              <a:t>Slide 1: Flight &amp; Airport Big Data Analytics Platform</a:t>
            </a:r>
          </a:p>
          <a:p>
            <a:pPr>
              <a:defRPr sz="1300">
                <a:solidFill>
                  <a:srgbClr val="355F8E"/>
                </a:solidFill>
                <a:latin typeface="Calibri"/>
              </a:defRPr>
            </a:pPr>
            <a:r>
              <a:t>An End-to-End Distributed Analytics &amp; Machine Learning Pipeline for U.S. Commercial Aviation  |  Owner: Member 4 (Presentation Lead)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Calibri"/>
              </a:defRPr>
            </a:pPr>
            <a:r>
              <a:t>National Telecommunication Institute (NTI) — Big Data Specialization Graduation Project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Calibri"/>
              </a:defRPr>
            </a:pPr>
            <a:r>
              <a:t>Team Members &amp; Assigned Roles: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Calibri"/>
              </a:defRPr>
            </a:pPr>
            <a:r>
              <a:t> • Abd El-Wadoud Ahmad: Infrastructure, Storage &amp; Orchestration (Member 1)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Calibri"/>
              </a:defRPr>
            </a:pPr>
            <a:r>
              <a:t> • Aliaa Fayez: Spark Analytics &amp; Distributed ETL (Member 2)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Calibri"/>
              </a:defRPr>
            </a:pPr>
            <a:r>
              <a:t> • Mariam Mohamed: Machine Learning &amp; Predictive Modeling (Member 3)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Calibri"/>
              </a:defRPr>
            </a:pPr>
            <a:r>
              <a:t> • Esraa: Real-Time Streaming &amp; BI Presentation Lead (Member 4)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Calibri"/>
              </a:defRPr>
            </a:pPr>
            <a:r>
              <a:t>A complete Lambda Architecture integrating Batch, Real-Time Streaming, and Leak-Free AI.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02C57"/>
                </a:solidFill>
                <a:latin typeface="Calibri"/>
              </a:defRPr>
            </a:pPr>
            <a:r>
              <a:t>Slide 2: Business Problem &amp; Motivation</a:t>
            </a:r>
          </a:p>
          <a:p>
            <a:pPr>
              <a:defRPr sz="1300">
                <a:solidFill>
                  <a:srgbClr val="355F8E"/>
                </a:solidFill>
                <a:latin typeface="Calibri"/>
              </a:defRPr>
            </a:pPr>
            <a:r>
              <a:t>Why Big Data is Required to Tackle the $33B Flight Delay Crisis  |  Owner: Member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Calibri"/>
              </a:defRPr>
            </a:pPr>
            <a:r>
              <a:t>The Economic Cost: Flight delays and cancellations cost U.S. carriers, airports, and passengers over $33 Billion annually.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Calibri"/>
              </a:defRPr>
            </a:pPr>
            <a:r>
              <a:t>Compounding Ripple Effects: An unmitigated 30-minute delay in the morning cascades across flight legs, resulting in cancelled evening returns.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Calibri"/>
              </a:defRPr>
            </a:pPr>
            <a:r>
              <a:t>Why Traditional Tools Fail: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Calibri"/>
              </a:defRPr>
            </a:pPr>
            <a:r>
              <a:t> • Microsoft Excel crashes at 1,048,576 rows (Our dataset is 27.4 Million rows).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Calibri"/>
              </a:defRPr>
            </a:pPr>
            <a:r>
              <a:t> • Single-threaded Python/Pandas exhausts 35–45 GB of RAM, causing severe Out-Of-Memory (OOM) failures.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Calibri"/>
              </a:defRPr>
            </a:pPr>
            <a:r>
              <a:t>The Big Data Solution: Scalable distributed storage (HDFS), in-memory compute (Spark), sub-second OLAP serving (ClickHouse), and interactive visual intelligence.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02C57"/>
                </a:solidFill>
                <a:latin typeface="Calibri"/>
              </a:defRPr>
            </a:pPr>
            <a:r>
              <a:t>Slide 3: Dataset Architecture &amp; Volume</a:t>
            </a:r>
          </a:p>
          <a:p>
            <a:pPr>
              <a:defRPr sz="1300">
                <a:solidFill>
                  <a:srgbClr val="355F8E"/>
                </a:solidFill>
                <a:latin typeface="Calibri"/>
              </a:defRPr>
            </a:pPr>
            <a:r>
              <a:t>U.S. Bureau of Transportation Statistics (BTS) On-Time Performance (2022–2025)  |  Owner: Member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Calibri"/>
              </a:defRPr>
            </a:pPr>
            <a:r>
              <a:t>Dataset Scope: 4 Full Years (2022, 2023, 2024, 2025) comprising 48 monthly raw CSV datasets.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Calibri"/>
              </a:defRPr>
            </a:pPr>
            <a:r>
              <a:t>Scale &amp; Dimensions: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Calibri"/>
              </a:defRPr>
            </a:pPr>
            <a:r>
              <a:t> • Total Volume: 12.50 Gigabytes of uncompressed text.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Calibri"/>
              </a:defRPr>
            </a:pPr>
            <a:r>
              <a:t> • Total Flight Records: ~27,400,000 commercial flights.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Calibri"/>
              </a:defRPr>
            </a:pPr>
            <a:r>
              <a:t> • Attribute Richness: 109 raw columns per flight record (Carrier, Tail#, Times, Delays, Causes, Cancellations).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Calibri"/>
              </a:defRPr>
            </a:pPr>
            <a:r>
              <a:t>Automated Ingestion Pipeline: Ingested programmatically and distributed across Hadoop HDFS (/project/flights/raw/).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02C57"/>
                </a:solidFill>
                <a:latin typeface="Calibri"/>
              </a:defRPr>
            </a:pPr>
            <a:r>
              <a:t>Slide 4: End-to-End Lambda Architecture</a:t>
            </a:r>
          </a:p>
          <a:p>
            <a:pPr>
              <a:defRPr sz="1300">
                <a:solidFill>
                  <a:srgbClr val="355F8E"/>
                </a:solidFill>
                <a:latin typeface="Calibri"/>
              </a:defRPr>
            </a:pPr>
            <a:r>
              <a:t>Decoupled Storage &amp; Compute Combining Batch Analytics and Real-Time Speed Layers  |  Owner: Member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Calibri"/>
              </a:defRPr>
            </a:pPr>
            <a:r>
              <a:t>Batch Layer: Raw CSVs → Hadoop HDFS → Apache Spark 3.3.0 Batch ETL → Snappy Parquet → ClickHouse OLAP → Power BI.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Calibri"/>
              </a:defRPr>
            </a:pPr>
            <a:r>
              <a:t>Speed Layer (Streaming): Event Producer → Apache Kafka (KRaft mode) → Spark Structured Streaming → ClickHouse → Grafana Live Dashboard.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Calibri"/>
              </a:defRPr>
            </a:pPr>
            <a:r>
              <a:t>Serving Layer (ClickHouse): Columnar OLAP engine responding to analytical aggregation queries in 7–15 milliseconds.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Calibri"/>
              </a:defRPr>
            </a:pPr>
            <a:r>
              <a:t>Orchestration: Apache Airflow automated DAG managing dependency execution across the entire data lifecycle.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02C57"/>
                </a:solidFill>
                <a:latin typeface="Calibri"/>
              </a:defRPr>
            </a:pPr>
            <a:r>
              <a:t>Slide 5: Distributed Storage: HDFS vs. MinIO</a:t>
            </a:r>
          </a:p>
          <a:p>
            <a:pPr>
              <a:defRPr sz="1300">
                <a:solidFill>
                  <a:srgbClr val="355F8E"/>
                </a:solidFill>
                <a:latin typeface="Calibri"/>
              </a:defRPr>
            </a:pPr>
            <a:r>
              <a:t>Architectural Evaluation of Distributed Block Storage and Cloud-Native Object Stores  |  Owner: Member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Calibri"/>
              </a:defRPr>
            </a:pPr>
            <a:r>
              <a:t>Hadoop Distributed File System (HDFS):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Calibri"/>
              </a:defRPr>
            </a:pPr>
            <a:r>
              <a:t> • Master-worker architecture (NameNode manages metadata, DataNodes store 128 MB blocks).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Calibri"/>
              </a:defRPr>
            </a:pPr>
            <a:r>
              <a:t> • Built-in fault tolerance and rack awareness for high-throughput sequential reads.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Calibri"/>
              </a:defRPr>
            </a:pPr>
            <a:r>
              <a:t>MinIO Cloud-Native Object Storage (Modern Alternative):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Calibri"/>
              </a:defRPr>
            </a:pPr>
            <a:r>
              <a:t> • High-performance, S3-compatible cloud-native object store.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Calibri"/>
              </a:defRPr>
            </a:pPr>
            <a:r>
              <a:t> • Eliminates NameNode metadata bottlenecks; native format for modern Data Lakehouse architectures.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Calibri"/>
              </a:defRPr>
            </a:pPr>
            <a:r>
              <a:t>Key Takeaway: Our Snappy Parquet layer seamlessly supports both HDFS (hdfs://) and MinIO (s3a://) with zero code refactoring.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02C57"/>
                </a:solidFill>
                <a:latin typeface="Calibri"/>
              </a:defRPr>
            </a:pPr>
            <a:r>
              <a:t>Slide 6: Distributed Processing &amp; Spark ETL</a:t>
            </a:r>
          </a:p>
          <a:p>
            <a:pPr>
              <a:defRPr sz="1300">
                <a:solidFill>
                  <a:srgbClr val="355F8E"/>
                </a:solidFill>
                <a:latin typeface="Calibri"/>
              </a:defRPr>
            </a:pPr>
            <a:r>
              <a:t>Columnar Conversion, Snappy Compression, and Feature Engineering at Scale  |  Owner: Member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Calibri"/>
              </a:defRPr>
            </a:pPr>
            <a:r>
              <a:t>Storage Optimization (CSV to Parquet):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Calibri"/>
              </a:defRPr>
            </a:pPr>
            <a:r>
              <a:t> • Uncompressed CSV (12.5 GB) → Snappy-compressed Apache Parquet (~1.5 GB).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Calibri"/>
              </a:defRPr>
            </a:pPr>
            <a:r>
              <a:t> • Achieved over 90% disk space compression and 100x faster analytical read speeds.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Calibri"/>
              </a:defRPr>
            </a:pPr>
            <a:r>
              <a:t> • Partitioned by Year (Year=2022 ... 2025) enabling automatic partition pruning.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Calibri"/>
              </a:defRPr>
            </a:pPr>
            <a:r>
              <a:t>Data Cleaning &amp; Transformation Logic: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Calibri"/>
              </a:defRPr>
            </a:pPr>
            <a:r>
              <a:t> • Explicit schema enforcement: retained 35 critical columns out of 109, stripping trailing commas.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Calibri"/>
              </a:defRPr>
            </a:pPr>
            <a:r>
              <a:t> • Feature derivation: Dep_Hour = floor(CRSDepTime / 100) % 24 and directed Route = Origin - Dest.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Calibri"/>
              </a:defRPr>
            </a:pPr>
            <a:r>
              <a:t> • Null handling: delay causes imputed to 0 for on-time operations.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02C57"/>
                </a:solidFill>
                <a:latin typeface="Calibri"/>
              </a:defRPr>
            </a:pPr>
            <a:r>
              <a:t>Slide 7: Core Operational Findings (Q1, Q2, Q7)</a:t>
            </a:r>
          </a:p>
          <a:p>
            <a:pPr>
              <a:defRPr sz="1300">
                <a:solidFill>
                  <a:srgbClr val="355F8E"/>
                </a:solidFill>
                <a:latin typeface="Calibri"/>
              </a:defRPr>
            </a:pPr>
            <a:r>
              <a:t>Carrier Rankings, Congested Bottlenecks, and Busiest Route Corridors  |  Owner: Member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Calibri"/>
              </a:defRPr>
            </a:pPr>
            <a:r>
              <a:t>Q1 — Airline Delay Rankings: American Airlines (29.37% delay rate) and JetBlue (29.03%) experience the highest delay rates, averaging 23–26 minutes per late flight.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Calibri"/>
              </a:defRPr>
            </a:pPr>
            <a:r>
              <a:t>Q2 — Congested Airport Hubs: Regional feeder hubs suffer the longest delays: Elmira/Corning (ELM) exhibits a 41.33% departure delay rate with an average delay of 83.9 minutes.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Calibri"/>
              </a:defRPr>
            </a:pPr>
            <a:r>
              <a:t>Q7 — Busiest Flight Corridors: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Calibri"/>
              </a:defRPr>
            </a:pPr>
            <a:r>
              <a:t> • #1 High-Frequency Corridor: Kahului (OGG) ↔ Honolulu (HNL) with ~2,000 monthly flights.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Calibri"/>
              </a:defRPr>
            </a:pPr>
            <a:r>
              <a:t> • #1 Continental Route: Los Angeles (LAX) → San Francisco (SFO) with an alarming 33.01% delay rate due to coastal weather and runway throttles.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02C57"/>
                </a:solidFill>
                <a:latin typeface="Calibri"/>
              </a:defRPr>
            </a:pPr>
            <a:r>
              <a:t>Slide 8: Temporal &amp; Root Cause Analysis (Q3, Q4, Q5, Q6)</a:t>
            </a:r>
          </a:p>
          <a:p>
            <a:pPr>
              <a:defRPr sz="1300">
                <a:solidFill>
                  <a:srgbClr val="355F8E"/>
                </a:solidFill>
                <a:latin typeface="Calibri"/>
              </a:defRPr>
            </a:pPr>
            <a:r>
              <a:t>Hourly Delay Cascades, 5-Cause Breakdown, and Cancellation Drivers  |  Owner: Member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Calibri"/>
              </a:defRPr>
            </a:pPr>
            <a:r>
              <a:t>Q3 — Hourly Compounding Cascade: Delays start at baseline (&lt;12%) at 6:00 AM and compound continuously, peaking between 6:00 PM and 9:00 PM at nearly 29%.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Calibri"/>
              </a:defRPr>
            </a:pPr>
            <a:r>
              <a:t>Q4 — Dominant Delay Causes Breakdown: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Calibri"/>
              </a:defRPr>
            </a:pPr>
            <a:r>
              <a:t> • Late Aircraft Delay (38.95%): The #1 dominant driver due to inbound late planes.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Calibri"/>
              </a:defRPr>
            </a:pPr>
            <a:r>
              <a:t> • Carrier Operations (32.62%): Mechanical maintenance, crew rostering, boarding.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Calibri"/>
              </a:defRPr>
            </a:pPr>
            <a:r>
              <a:t> • National Airspace System (17.92%): ATC traffic throttles and runway congestion.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Calibri"/>
              </a:defRPr>
            </a:pPr>
            <a:r>
              <a:t> • Severe Weather (10.27%): Meteorological ground stops. Security: 0.24%.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Calibri"/>
              </a:defRPr>
            </a:pPr>
            <a:r>
              <a:t>Q5 &amp; Q6 — Calendar Trends &amp; Cancellations: Tuesday (26.9%) and Friday (25.7%) suffer peak weekly delays. Winter cancellations are dominated by Severe Weather (59.3%) and Carrier issues (37.9%).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02C57"/>
                </a:solidFill>
                <a:latin typeface="Calibri"/>
              </a:defRPr>
            </a:pPr>
            <a:r>
              <a:t>Slide 9: Machine Learning: Leak-Free AI Formulation</a:t>
            </a:r>
          </a:p>
          <a:p>
            <a:pPr>
              <a:defRPr sz="1300">
                <a:solidFill>
                  <a:srgbClr val="355F8E"/>
                </a:solidFill>
                <a:latin typeface="Calibri"/>
              </a:defRPr>
            </a:pPr>
            <a:r>
              <a:t>Pre-Departure Delay Risk Classification with Zero Future Data Leakage  |  Owner: Member 3 (ML Engineer)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Calibri"/>
              </a:defRPr>
            </a:pPr>
            <a:r>
              <a:t>Task Formulation: Binary classification predicting whether a flight will arrive ≥ 15 minutes late (ArrDel15 = 1). Population: Operated flights only.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Calibri"/>
              </a:defRPr>
            </a:pPr>
            <a:r>
              <a:t>The Strict Zero-Leakage Guarantee: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Calibri"/>
              </a:defRPr>
            </a:pPr>
            <a:r>
              <a:t> • Forbidden Features: DepDelay, ActualElapsedTime, AirTime, ArrTime, and delay-cause minutes are strictly excluded (unknown at departure).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Calibri"/>
              </a:defRPr>
            </a:pPr>
            <a:r>
              <a:t> • 8 Allowed Pre-Departure Features: Month, DayOfWeek, Dep_Hour, Reporting_Airline, Origin, Dest, Distance, CRSElapsedTime.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Calibri"/>
              </a:defRPr>
            </a:pPr>
            <a:r>
              <a:t>Spark MLlib Pipeline: StringIndexer (handleInvalid='keep') → OneHotEncoder → VectorAssembler → Estimator.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02C57"/>
                </a:solidFill>
                <a:latin typeface="Calibri"/>
              </a:defRPr>
            </a:pPr>
            <a:r>
              <a:t>Slide 10: ML Model Benchmark &amp; Evaluation</a:t>
            </a:r>
          </a:p>
          <a:p>
            <a:pPr>
              <a:defRPr sz="1300">
                <a:solidFill>
                  <a:srgbClr val="355F8E"/>
                </a:solidFill>
                <a:latin typeface="Calibri"/>
              </a:defRPr>
            </a:pPr>
            <a:r>
              <a:t>Why Random Forest Was Rejected; Logistic Regression vs. GBT Comparison  |  Owner: Member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Calibri"/>
              </a:defRPr>
            </a:pPr>
            <a:r>
              <a:t>The Rejection of Random Forest on Big Data: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Calibri"/>
              </a:defRPr>
            </a:pPr>
            <a:r>
              <a:t> • Origin and Dest have 350+ categorical levels (maxBins &gt;= 400).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Calibri"/>
              </a:defRPr>
            </a:pPr>
            <a:r>
              <a:t> • Building 50–100 parallel trees causes exponential memory consumption and Spark executor Out-Of-Memory (OOM) failures.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Calibri"/>
              </a:defRPr>
            </a:pPr>
            <a:r>
              <a:t>Models Evaluated: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Calibri"/>
              </a:defRPr>
            </a:pPr>
            <a:r>
              <a:t> • Model 1: Logistic Regression (L-BFGS) — Fast, convex, scalable baseline.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Calibri"/>
              </a:defRPr>
            </a:pPr>
            <a:r>
              <a:t> • Model 2: Gradient Boosted Trees (GBTClassifier, maxDepth=5) — Shallow sequential boosted trees.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Calibri"/>
              </a:defRPr>
            </a:pPr>
            <a:r>
              <a:t>Evaluation Results: AUC-ROC = 0.66 | Accuracy = 78.4%. An AUC of 0.60–0.70 is the recognized aviation standard for schedule-only features, proving genuine scientific integrity without leakage.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02C57"/>
                </a:solidFill>
                <a:latin typeface="Calibri"/>
              </a:defRPr>
            </a:pPr>
            <a:r>
              <a:t>Slide 11: Executive Dashboards Showcase</a:t>
            </a:r>
          </a:p>
          <a:p>
            <a:pPr>
              <a:defRPr sz="1300">
                <a:solidFill>
                  <a:srgbClr val="355F8E"/>
                </a:solidFill>
                <a:latin typeface="Calibri"/>
              </a:defRPr>
            </a:pPr>
            <a:r>
              <a:t>Interactive Power BI Executive Report &amp; Live Grafana Streaming Monitor  |  Owner: Member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Calibri"/>
              </a:defRPr>
            </a:pPr>
            <a:r>
              <a:t>Power BI 4-Page Analytics Report (Batch Layer):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Calibri"/>
              </a:defRPr>
            </a:pPr>
            <a:r>
              <a:t> • Page 1: Executive Operations Overview (KPI cards, reliability rankings, carrier performance).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Calibri"/>
              </a:defRPr>
            </a:pPr>
            <a:r>
              <a:t> • Page 2: Root Causes &amp; Seasonality (Cause donut chart, hourly delay curve, weekly surge).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Calibri"/>
              </a:defRPr>
            </a:pPr>
            <a:r>
              <a:t> • Page 3: Route Corridor Intelligence (Top routes matrix, distance vs. delay scatter plot).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Calibri"/>
              </a:defRPr>
            </a:pPr>
            <a:r>
              <a:t> • Page 4: AI/ML Delay Risk Predictor (Risk category segmentation: Low &lt;15%, Medium 15–30%, High ≥30%).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Calibri"/>
              </a:defRPr>
            </a:pPr>
            <a:r>
              <a:t>Grafana Real-Time Dashboard (Speed Layer): Live streaming metrics from ClickHouse (flights processed/sec, real-time delay rates).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02C57"/>
                </a:solidFill>
                <a:latin typeface="Calibri"/>
              </a:defRPr>
            </a:pPr>
            <a:r>
              <a:t>Slide 12: Orchestration, Conclusions &amp; Future Work</a:t>
            </a:r>
          </a:p>
          <a:p>
            <a:pPr>
              <a:defRPr sz="1300">
                <a:solidFill>
                  <a:srgbClr val="355F8E"/>
                </a:solidFill>
                <a:latin typeface="Calibri"/>
              </a:defRPr>
            </a:pPr>
            <a:r>
              <a:t>Pipeline Automation, Key Achievements, and Production Roadmap  |  Owner: Member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Calibri"/>
              </a:defRPr>
            </a:pPr>
            <a:r>
              <a:t>Pipeline Automation (Apache Airflow): Automated 5-stage BashOperator DAG with automatic retries and visual green tree-view verification.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Calibri"/>
              </a:defRPr>
            </a:pPr>
            <a:r>
              <a:t>Core Engineering Milestones: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Calibri"/>
              </a:defRPr>
            </a:pPr>
            <a:r>
              <a:t> • Ingested and compressed 12.5 GB of raw aviation data into a sub-second OLAP platform.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Calibri"/>
              </a:defRPr>
            </a:pPr>
            <a:r>
              <a:t> • Built a fully functioning Lambda Architecture combining batch analytical rigor and real-time event streaming.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Calibri"/>
              </a:defRPr>
            </a:pPr>
            <a:r>
              <a:t> • Deployed leak-free machine learning providing pre-departure risk assessment.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Calibri"/>
              </a:defRPr>
            </a:pPr>
            <a:r>
              <a:t>Future Roadmap: Kubernetes (EKS/GKE) cluster deployment with Helm charts; Delta Lake ACID transaction integration on S3/MinIO.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